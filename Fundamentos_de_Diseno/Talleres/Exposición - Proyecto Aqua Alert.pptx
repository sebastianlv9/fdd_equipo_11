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58" r:id="rId12"/>
    <p:sldId id="270" r:id="rId13"/>
    <p:sldId id="267" r:id="rId14"/>
    <p:sldId id="268" r:id="rId15"/>
  </p:sldIdLst>
  <p:sldSz cx="12192000" cy="6858000"/>
  <p:notesSz cx="6858000" cy="12192000"/>
  <p:embeddedFontLst>
    <p:embeddedFont>
      <p:font typeface="IBM Plex Mono Medium" panose="020B0609050203000203" pitchFamily="49" charset="0"/>
      <p:regular r:id="rId17"/>
      <p:italic r:id="rId18"/>
    </p:embeddedFont>
    <p:embeddedFont>
      <p:font typeface="IBM Plex Mono SemiBold" panose="020B0709050203000203" pitchFamily="49" charset="0"/>
      <p:regular r:id="rId19"/>
      <p:bold r:id="rId20"/>
    </p:embeddedFont>
    <p:embeddedFont>
      <p:font typeface="Nunito Sans" pitchFamily="2" charset="0"/>
      <p:regular r:id="rId21"/>
      <p:bold r:id="rId22"/>
      <p:italic r:id="rId23"/>
      <p:boldItalic r:id="rId24"/>
    </p:embeddedFont>
    <p:embeddedFont>
      <p:font typeface="Nunito Sans Bold" charset="0"/>
      <p:regular r:id="rId25"/>
    </p:embeddedFont>
    <p:embeddedFont>
      <p:font typeface="Nunito Sans Medium" panose="020B0604020202020204" charset="0"/>
      <p:regular r:id="rId26"/>
    </p:embeddedFont>
    <p:embeddedFont>
      <p:font typeface="Nunito Sans SemiBold" pitchFamily="2" charset="0"/>
      <p:regular r:id="rId27"/>
      <p:bold r:id="rId28"/>
    </p:embeddedFont>
    <p:embeddedFont>
      <p:font typeface="Sora ExtraBold" panose="020B0604020202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56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8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7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b.pe/institucion/sunass/informes-publicaciones/7375591-agua-no-facturada-en-el-peru-un-desafio-de-gestion-para-las-empresas-prestadoras-de-servicios-de-agua-potabl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unstats.un.org/sdgs/indicators/Global-Indicator-Framework-after-2024-refinement-Spanish.pdf" TargetMode="External"/><Relationship Id="rId4" Type="http://schemas.openxmlformats.org/officeDocument/2006/relationships/hyperlink" Target="https://www.gob.pe/institucion/sedapal/noticias/1207418-sedapal-despega-con-tecnologia-espacial-detecta-miles-de-fugas-no-visibles-y-garantizamos-la-calidad-del-agua-para-lima-y-calla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9525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9525" y="685800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8" y="431800"/>
            <a:ext cx="1981150" cy="6037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2588" y="1238746"/>
            <a:ext cx="1170554" cy="345281"/>
          </a:xfrm>
          <a:prstGeom prst="roundRect">
            <a:avLst>
              <a:gd name="adj" fmla="val 3310"/>
            </a:avLst>
          </a:prstGeom>
          <a:solidFill>
            <a:srgbClr val="D1E2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612065" y="1303437"/>
            <a:ext cx="152118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82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GRUPO 11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761089" y="1238746"/>
            <a:ext cx="600854" cy="345281"/>
          </a:xfrm>
          <a:prstGeom prst="roundRect">
            <a:avLst>
              <a:gd name="adj" fmla="val 3310"/>
            </a:avLst>
          </a:prstGeom>
          <a:solidFill>
            <a:srgbClr val="D1E2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1890566" y="1303437"/>
            <a:ext cx="95148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82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FDD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2588" y="1884363"/>
            <a:ext cx="3632109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3000"/>
              </a:spcAft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PROPUESTA DE INNOVACIÓN.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2588" y="2728913"/>
            <a:ext cx="3632109" cy="259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0" spc="-72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DETECTAR LA FUGA</a:t>
            </a:r>
            <a:endParaRPr lang="en-US" sz="4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000" kern="0" spc="-72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ANTES DE PERDER</a:t>
            </a:r>
            <a:endParaRPr lang="en-US" sz="4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000" kern="0" spc="-72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EL AGUA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82588" y="5544939"/>
            <a:ext cx="363210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Sistema robótico e inteligente de monitoreo, control de calidad y prevención de fugas de agua.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8" y="0"/>
            <a:ext cx="77214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94360"/>
            <a:ext cx="3703320" cy="562356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0800000">
            <a:off x="1399550" y="1088136"/>
            <a:ext cx="2011680" cy="2606040"/>
          </a:xfrm>
          <a:prstGeom prst="teardrop">
            <a:avLst/>
          </a:prstGeom>
          <a:solidFill>
            <a:srgbClr val="3AB5D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ardrop 4"/>
          <p:cNvSpPr/>
          <p:nvPr/>
        </p:nvSpPr>
        <p:spPr>
          <a:xfrm rot="10800000">
            <a:off x="1920240" y="2057400"/>
            <a:ext cx="822960" cy="109728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4434840"/>
            <a:ext cx="146304" cy="146304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4892040"/>
            <a:ext cx="146304" cy="146304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48840" y="4526280"/>
            <a:ext cx="146304" cy="146304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88920" y="4937760"/>
            <a:ext cx="146304" cy="146304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37560" y="4343400"/>
            <a:ext cx="146304" cy="146304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106424" y="4507992"/>
            <a:ext cx="402336" cy="457200"/>
          </a:xfrm>
          <a:prstGeom prst="line">
            <a:avLst/>
          </a:prstGeom>
          <a:ln w="19050">
            <a:solidFill>
              <a:srgbClr val="1F6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55064" y="4599432"/>
            <a:ext cx="493776" cy="365760"/>
          </a:xfrm>
          <a:prstGeom prst="line">
            <a:avLst/>
          </a:prstGeom>
          <a:ln w="19050">
            <a:solidFill>
              <a:srgbClr val="1F6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95144" y="4599432"/>
            <a:ext cx="493776" cy="411480"/>
          </a:xfrm>
          <a:prstGeom prst="line">
            <a:avLst/>
          </a:prstGeom>
          <a:ln w="19050">
            <a:solidFill>
              <a:srgbClr val="1F6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35224" y="4416552"/>
            <a:ext cx="402336" cy="594360"/>
          </a:xfrm>
          <a:prstGeom prst="line">
            <a:avLst/>
          </a:prstGeom>
          <a:ln w="19050">
            <a:solidFill>
              <a:srgbClr val="1F6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80467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3C2"/>
                </a:solidFill>
                <a:latin typeface="Times New Roman"/>
              </a:rPr>
              <a:t>AQUA-ALERT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2880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75C"/>
                </a:solidFill>
                <a:latin typeface="Times New Roman"/>
              </a:rPr>
              <a:t>Equipo de trabajo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05072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B5A69"/>
                </a:solidFill>
                <a:latin typeface="Times New Roman"/>
              </a:rPr>
              <a:t>Monitorear · Detectar · Prevenir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6903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63C2"/>
                </a:solidFill>
                <a:latin typeface="Times New Roman"/>
              </a:rPr>
              <a:t>INTEGRANTES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1444752"/>
            <a:ext cx="6583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B5A69"/>
                </a:solidFill>
                <a:latin typeface="Times New Roman"/>
              </a:rPr>
              <a:t>Presentación del proyecto · Fundamentos de Diseño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1847088"/>
            <a:ext cx="6537960" cy="22860"/>
          </a:xfrm>
          <a:prstGeom prst="rect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09160" y="2176272"/>
            <a:ext cx="347472" cy="347472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18084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130552"/>
            <a:ext cx="5897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7375C"/>
                </a:solidFill>
                <a:latin typeface="Times New Roman"/>
              </a:rPr>
              <a:t>Limascca Hanampa, Susan Samanta</a:t>
            </a:r>
          </a:p>
        </p:txBody>
      </p:sp>
      <p:sp>
        <p:nvSpPr>
          <p:cNvPr id="24" name="Oval 23"/>
          <p:cNvSpPr/>
          <p:nvPr/>
        </p:nvSpPr>
        <p:spPr>
          <a:xfrm>
            <a:off x="4709160" y="2834640"/>
            <a:ext cx="347472" cy="347472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839212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788920"/>
            <a:ext cx="5897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7375C"/>
                </a:solidFill>
                <a:latin typeface="Times New Roman"/>
              </a:rPr>
              <a:t>Vega Sanchez, Jimena Natalia</a:t>
            </a:r>
          </a:p>
        </p:txBody>
      </p:sp>
      <p:sp>
        <p:nvSpPr>
          <p:cNvPr id="27" name="Oval 26"/>
          <p:cNvSpPr/>
          <p:nvPr/>
        </p:nvSpPr>
        <p:spPr>
          <a:xfrm>
            <a:off x="4709160" y="3493008"/>
            <a:ext cx="347472" cy="347472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349758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512855"/>
            <a:ext cx="5897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17375C"/>
                </a:solidFill>
                <a:latin typeface="Times New Roman"/>
              </a:rPr>
              <a:t>Oliva Moscoso</a:t>
            </a:r>
            <a:r>
              <a:rPr lang="es-MX" sz="1400" b="0" dirty="0">
                <a:solidFill>
                  <a:srgbClr val="17375C"/>
                </a:solidFill>
                <a:latin typeface="Times New Roman"/>
              </a:rPr>
              <a:t>,</a:t>
            </a:r>
            <a:r>
              <a:rPr sz="1400" b="0" dirty="0">
                <a:solidFill>
                  <a:srgbClr val="17375C"/>
                </a:solidFill>
                <a:latin typeface="Times New Roman"/>
              </a:rPr>
              <a:t> Daniel Fabrizio</a:t>
            </a:r>
          </a:p>
        </p:txBody>
      </p:sp>
      <p:sp>
        <p:nvSpPr>
          <p:cNvPr id="30" name="Oval 29"/>
          <p:cNvSpPr/>
          <p:nvPr/>
        </p:nvSpPr>
        <p:spPr>
          <a:xfrm>
            <a:off x="4709160" y="4151376"/>
            <a:ext cx="347472" cy="347472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15594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171223"/>
            <a:ext cx="5897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17375C"/>
                </a:solidFill>
                <a:latin typeface="Times New Roman"/>
              </a:rPr>
              <a:t>Sarmiento Montalvo</a:t>
            </a:r>
            <a:r>
              <a:rPr lang="es-MX" sz="1400" b="0" dirty="0">
                <a:solidFill>
                  <a:srgbClr val="17375C"/>
                </a:solidFill>
                <a:latin typeface="Times New Roman"/>
              </a:rPr>
              <a:t>,</a:t>
            </a:r>
            <a:r>
              <a:rPr sz="1400" b="0" dirty="0">
                <a:solidFill>
                  <a:srgbClr val="17375C"/>
                </a:solidFill>
                <a:latin typeface="Times New Roman"/>
              </a:rPr>
              <a:t> Marlon Steeven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4809744"/>
            <a:ext cx="347472" cy="347472"/>
          </a:xfrm>
          <a:prstGeom prst="ellipse">
            <a:avLst/>
          </a:prstGeom>
          <a:solidFill>
            <a:srgbClr val="1F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48143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4829591"/>
            <a:ext cx="5897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17375C"/>
                </a:solidFill>
                <a:latin typeface="Times New Roman"/>
              </a:rPr>
              <a:t>Layme Vargas</a:t>
            </a:r>
            <a:r>
              <a:rPr lang="es-MX" sz="1400" b="0" dirty="0">
                <a:solidFill>
                  <a:srgbClr val="17375C"/>
                </a:solidFill>
                <a:latin typeface="Times New Roman"/>
              </a:rPr>
              <a:t>,</a:t>
            </a:r>
            <a:r>
              <a:rPr sz="1400" b="0" dirty="0">
                <a:solidFill>
                  <a:srgbClr val="17375C"/>
                </a:solidFill>
                <a:latin typeface="Times New Roman"/>
              </a:rPr>
              <a:t> Sebastian Eduardo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5623560"/>
            <a:ext cx="6565392" cy="475488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5687568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63C2"/>
                </a:solidFill>
                <a:latin typeface="Times New Roman"/>
              </a:rPr>
              <a:t>ODS 6 · Agua limpia y saneamiento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273A8615-A783-7D9E-2BC8-03A841C5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66" y="3262114"/>
            <a:ext cx="333764" cy="3337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457200"/>
            <a:ext cx="1173450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80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ESCALA DEL PROBLEMA · PERÚ · 2014–2024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189" y="653256"/>
            <a:ext cx="1127731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150" kern="0" spc="-57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EL PROBLEMA YA TIENE ESCALA NACIONAL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57189" y="2472432"/>
            <a:ext cx="6107952" cy="58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4850" kern="0" spc="-122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5 845</a:t>
            </a:r>
            <a:endParaRPr lang="en-US" sz="4850" dirty="0"/>
          </a:p>
        </p:txBody>
      </p:sp>
      <p:sp>
        <p:nvSpPr>
          <p:cNvPr id="6" name="Text 3"/>
          <p:cNvSpPr/>
          <p:nvPr/>
        </p:nvSpPr>
        <p:spPr>
          <a:xfrm>
            <a:off x="457189" y="3189684"/>
            <a:ext cx="6717537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18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MILLONES DE M³ NO FACTURADOS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189" y="3477915"/>
            <a:ext cx="6107952" cy="535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Frente a 16 287 millones de m³ producidos por las empresas prestadoras.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834" y="1198463"/>
            <a:ext cx="4228994" cy="38431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9834" y="5096570"/>
            <a:ext cx="53218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23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Fuente: SUNASS, </a:t>
            </a:r>
            <a:r>
              <a:rPr lang="en-US" sz="1150" i="1" kern="0" spc="23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Agua no facturada en el Perú</a:t>
            </a:r>
            <a:r>
              <a:rPr lang="en-US" sz="1150" kern="0" spc="23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, 2025.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189" y="5450979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7"/>
          <p:cNvSpPr/>
          <p:nvPr/>
        </p:nvSpPr>
        <p:spPr>
          <a:xfrm>
            <a:off x="457189" y="5633045"/>
            <a:ext cx="11734506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5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Las </a:t>
            </a:r>
            <a:r>
              <a:rPr lang="en-US" sz="1550" dirty="0" err="1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causas</a:t>
            </a:r>
            <a:r>
              <a:rPr lang="en-US" sz="15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</a:t>
            </a:r>
            <a:r>
              <a:rPr lang="en-US" sz="1550" dirty="0" err="1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están</a:t>
            </a:r>
            <a:r>
              <a:rPr lang="en-US" sz="15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relacionadas con problemas de medición, infraestructura antigua y fugas frecuentes.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189" y="5998071"/>
            <a:ext cx="11277318" cy="86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spcAft>
                <a:spcPts val="950"/>
              </a:spcAft>
              <a:buNone/>
            </a:pPr>
            <a:endParaRPr lang="en-US" sz="1300" dirty="0"/>
          </a:p>
          <a:p>
            <a:pPr marL="0" indent="0" algn="l">
              <a:lnSpc>
                <a:spcPct val="103000"/>
              </a:lnSpc>
              <a:spcAft>
                <a:spcPts val="950"/>
              </a:spcAft>
              <a:buNone/>
            </a:pPr>
            <a:endParaRPr lang="en-US" sz="13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D1DAF60-F95D-3961-EFBE-974284CAE654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75D437E-6165-AC61-25AA-D9FEFE50E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20040"/>
            <a:ext cx="38404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C3B5E"/>
                </a:solidFill>
                <a:latin typeface="Aptos"/>
              </a:rPr>
              <a:t>SOSTENIBILIDAD DEL SERVICIO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2365C6"/>
                </a:solidFill>
                <a:latin typeface="Aptos"/>
              </a:rPr>
              <a:t>AGUA NO FACTURADA: UN RETO PARA LA GESTIÓN DEL 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60" b="0">
                <a:solidFill>
                  <a:srgbClr val="1C3B5E"/>
                </a:solidFill>
                <a:latin typeface="Aptos"/>
              </a:rPr>
              <a:t>Los datos muestran la magnitud del agua producida que no llega a convertirse en facturación; no todo corresponde exclusivamente a fugas.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10512"/>
            <a:ext cx="2834640" cy="1828800"/>
          </a:xfrm>
          <a:prstGeom prst="roundRect">
            <a:avLst>
              <a:gd name="adj" fmla="val 8000"/>
            </a:avLst>
          </a:prstGeom>
          <a:solidFill>
            <a:srgbClr val="2365C6"/>
          </a:solidFill>
          <a:ln w="10160">
            <a:solidFill>
              <a:srgbClr val="23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2331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S/ 345,7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NO RECAUDADOS EN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07792"/>
            <a:ext cx="22402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20" b="0">
                <a:solidFill>
                  <a:srgbClr val="FFFFFF"/>
                </a:solidFill>
                <a:latin typeface="Aptos"/>
              </a:rPr>
              <a:t>S/ 302,9 millones correspondieron a EPS grandes.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74519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1C3B5E"/>
                </a:solidFill>
                <a:latin typeface="Aptos"/>
              </a:rPr>
              <a:t>¿</a:t>
            </a:r>
            <a:r>
              <a:rPr sz="1800" b="1" dirty="0" err="1">
                <a:solidFill>
                  <a:srgbClr val="1C3B5E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C3B5E"/>
                </a:solidFill>
                <a:latin typeface="Aptos"/>
              </a:rPr>
              <a:t>significa</a:t>
            </a:r>
            <a:r>
              <a:rPr sz="1800" b="1" dirty="0">
                <a:solidFill>
                  <a:srgbClr val="1C3B5E"/>
                </a:solidFill>
                <a:latin typeface="Aptos"/>
              </a:rPr>
              <a:t> para AQUA-ALERT?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86000"/>
            <a:ext cx="342900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dirty="0">
                <a:solidFill>
                  <a:srgbClr val="1C3B5E"/>
                </a:solidFill>
                <a:latin typeface="Aptos"/>
              </a:rPr>
              <a:t>La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detección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temprana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puede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apoyar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la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reducción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pérdidas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orientar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el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mantenimiento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generar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información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para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futuras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decisiones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1C3B5E"/>
                </a:solidFill>
                <a:latin typeface="Aptos"/>
              </a:rPr>
              <a:t>gestión</a:t>
            </a:r>
            <a:r>
              <a:rPr sz="1400" b="0" dirty="0">
                <a:solidFill>
                  <a:srgbClr val="1C3B5E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10512"/>
            <a:ext cx="431596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9C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93392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C3B5E"/>
                </a:solidFill>
                <a:latin typeface="Aptos"/>
              </a:rPr>
              <a:t>Agua no facturada (%)</a:t>
            </a:r>
          </a:p>
        </p:txBody>
      </p:sp>
      <p:pic>
        <p:nvPicPr>
          <p:cNvPr id="13" name="Picture 12" descr="aqua_alert_grafica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2240280"/>
            <a:ext cx="3977639" cy="2542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4919472"/>
            <a:ext cx="36576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19" b="0">
                <a:solidFill>
                  <a:srgbClr val="4D6785"/>
                </a:solidFill>
                <a:latin typeface="Aptos"/>
              </a:rPr>
              <a:t>Comparación de referencia incluida en el material de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41648"/>
            <a:ext cx="6629400" cy="1335024"/>
          </a:xfrm>
          <a:prstGeom prst="roundRect">
            <a:avLst>
              <a:gd name="adj" fmla="val 8000"/>
            </a:avLst>
          </a:prstGeom>
          <a:solidFill>
            <a:srgbClr val="D6E5F8"/>
          </a:solidFill>
          <a:ln w="10160">
            <a:solidFill>
              <a:srgbClr val="D6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041648"/>
            <a:ext cx="64008" cy="1335024"/>
          </a:xfrm>
          <a:prstGeom prst="rect">
            <a:avLst/>
          </a:prstGeom>
          <a:solidFill>
            <a:srgbClr val="2365C6"/>
          </a:solidFill>
          <a:ln w="10160">
            <a:solidFill>
              <a:srgbClr val="23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C3B5E"/>
                </a:solidFill>
                <a:latin typeface="Aptos"/>
              </a:rPr>
              <a:t>Implicación para 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589788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30" b="0">
                <a:solidFill>
                  <a:srgbClr val="1C3B5E"/>
                </a:solidFill>
                <a:latin typeface="Aptos"/>
              </a:rPr>
              <a:t>AQUA-ALERT no pretende resolver por sí solo el agua no facturada; busca aportar una herramienta de monitoreo y respuesta ante pérdidas detectables.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0789920" cy="1815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40" b="0" dirty="0">
                <a:solidFill>
                  <a:srgbClr val="4D6785"/>
                </a:solidFill>
                <a:latin typeface="Aptos"/>
              </a:rPr>
              <a:t>Fuente de la </a:t>
            </a:r>
            <a:r>
              <a:rPr sz="940" b="0" dirty="0" err="1">
                <a:solidFill>
                  <a:srgbClr val="4D6785"/>
                </a:solidFill>
                <a:latin typeface="Aptos"/>
              </a:rPr>
              <a:t>cifra</a:t>
            </a:r>
            <a:r>
              <a:rPr sz="940" b="0" dirty="0">
                <a:solidFill>
                  <a:srgbClr val="4D6785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4D6785"/>
                </a:solidFill>
                <a:latin typeface="Aptos"/>
              </a:rPr>
              <a:t>económica</a:t>
            </a:r>
            <a:r>
              <a:rPr sz="940" b="0" dirty="0">
                <a:solidFill>
                  <a:srgbClr val="4D6785"/>
                </a:solidFill>
                <a:latin typeface="Aptos"/>
              </a:rPr>
              <a:t>: SUNASS (2025)..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B2D7039-1E3B-5CA5-8939-47C98CA029E2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2CE1527-4B58-4DD3-AB5D-65593C516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843" y="457200"/>
            <a:ext cx="11500852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EVIDENCIA TECNOLÓGICA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LA TECNOLOGÍA YA DEMUESTRA QUE LAS FUGAS INVISIBLES PUEDEN LOCALIZARSE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02560" y="1941711"/>
            <a:ext cx="1093194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SEDAPAL reportó que combinar sensores electroacústicos y radar de apertura sintética permitió detectar tres veces más fugas no visibles que el método tradicional en Lima y Callao.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245" y="2749352"/>
            <a:ext cx="7215205" cy="3111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5577" y="3095230"/>
            <a:ext cx="3967810" cy="24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500" kern="0" spc="-27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DETECCIÓN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75577" y="3816750"/>
            <a:ext cx="3967810" cy="24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500" kern="0" spc="-27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VERIFICACIÓN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975577" y="4531054"/>
            <a:ext cx="3967810" cy="24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500" kern="0" spc="-27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CONTROL DE CALIDAD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75577" y="5245360"/>
            <a:ext cx="3967810" cy="24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500" kern="0" spc="-27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ALERTA PRIORIZADA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1182" y="5952827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Fuente: SEDAPAL, detección de fugas no visibles con sensores electroacústicos y tecnología SAR, 2025.</a:t>
            </a:r>
            <a:endParaRPr lang="en-US" sz="12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8F32A41-C13C-108A-2FBD-AC921F5CE54E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B64E7EE-45BB-3E38-3DD9-4FBF63EA7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ARQUITECTURA PROPUESTA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DE LA DETECCIÓN A LA PREVENCIÓN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60383" y="1652687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0C6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1954907"/>
            <a:ext cx="2590735" cy="19050"/>
          </a:xfrm>
          <a:prstGeom prst="rect">
            <a:avLst/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60383" y="2103438"/>
            <a:ext cx="2184345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Detectar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0383" y="2687935"/>
            <a:ext cx="2184345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Monitoreamos de forma continua el caudal, la presión y el nivel del sistema para identificar cambios que puedan indicar una fuga.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55911" y="1652687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0C6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52716" y="1954907"/>
            <a:ext cx="2590735" cy="19050"/>
          </a:xfrm>
          <a:prstGeom prst="rect">
            <a:avLst/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555911" y="2103438"/>
            <a:ext cx="2184345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Verificar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55911" y="2687935"/>
            <a:ext cx="2184345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Comparar las mediciones con el comportamiento habitual para determinar si la alerta requiere atención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51439" y="1652687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0C6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1954907"/>
            <a:ext cx="2590735" cy="19050"/>
          </a:xfrm>
          <a:prstGeom prst="rect">
            <a:avLst/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51439" y="2103438"/>
            <a:ext cx="2184345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Priorizar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51439" y="2687935"/>
            <a:ext cx="2184345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Clasifica las alertas según su nivel de riesgo y el volumen potencial de pérdida para definir la respuesta necesaria en cada caso.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3771" y="1449487"/>
            <a:ext cx="2590735" cy="3557191"/>
          </a:xfrm>
          <a:prstGeom prst="rect">
            <a:avLst/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346966" y="1652687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3771" y="1954907"/>
            <a:ext cx="2590735" cy="19050"/>
          </a:xfrm>
          <a:prstGeom prst="rect">
            <a:avLst/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346966" y="2103438"/>
            <a:ext cx="2184345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Prevenir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46966" y="2687935"/>
            <a:ext cx="2184345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Notificar la incidencia y, cuando corresponda, activar el cierre de la válvula para limitar la pérdida de agua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189" y="526226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57189" y="5549602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El objetivo no es solo identificar una fuga, sino evitar sus consecuencias</a:t>
            </a:r>
            <a:endParaRPr lang="en-US" sz="17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B8A8224-EEDD-C5AF-9909-4C11F1B56A45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2EF611C-577E-CA7F-8C62-41DF764F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DISEÑO DE EVALUACIÓN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¿CÓMO EVALUAREMOS EL PILOTO?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449487"/>
          <a:ext cx="11277318" cy="3517020"/>
        </p:xfrm>
        <a:graphic>
          <a:graphicData uri="http://schemas.openxmlformats.org/drawingml/2006/table">
            <a:tbl>
              <a:tblPr/>
              <a:tblGrid>
                <a:gridCol w="2706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60C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Etapa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60C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¿Qué mediremos?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Detección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Tiempo desde que ocurre la fuga hasta la primera alerta registrada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Verificación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Porcentaje de alertas confirmadas y reducción de falsas alarmas.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Intervención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Tiempo hasta el cierre de la válvula o inicio de la reparación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Resultado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Volumen estimado de agua no desperdiciada en comparación con un escenario sin el sistema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Escalabilidad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Costo estimado por punto de monitoreo y viabilidad de despliegue en Lima y otras provincias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189" y="5579368"/>
            <a:ext cx="11277318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550"/>
              </a:spcAft>
              <a:buNone/>
            </a:pPr>
            <a:endParaRPr lang="en-US" sz="17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BFADCA-0361-F060-E1CF-09FF9322EA65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7374C2-B5D8-3375-261B-585B3125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712589"/>
            <a:ext cx="11277318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50" kern="0" spc="-61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ODS PRINCIPAL : ODS 6 - AGUA LIMPIA Y SANEAMIENTO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0383" y="1966119"/>
            <a:ext cx="2450443" cy="749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Meta 6.1(Acceso seguro):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60383" y="2842915"/>
            <a:ext cx="2450443" cy="126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De aquí a 2030, lograr el acceso universal y equitativo al agua potable, a un precio asequible para todos.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0383" y="4212332"/>
            <a:ext cx="2450443" cy="47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kern="0" spc="22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 oficial: 6.1.1.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14022" y="1762919"/>
            <a:ext cx="2969741" cy="4344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517217" y="1966119"/>
            <a:ext cx="2563351" cy="749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Contribución al proyecto 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517217" y="2842915"/>
            <a:ext cx="2563351" cy="126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Ayuda a asegurar que el suministro continuo en los hogares se mantenga sin perderse por fallas o averías en la 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3763" y="1762919"/>
            <a:ext cx="2706521" cy="4344789"/>
          </a:xfrm>
          <a:prstGeom prst="rect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86958" y="1966119"/>
            <a:ext cx="2300131" cy="749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Meta 6.4(Uso eficiente):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86958" y="2842915"/>
            <a:ext cx="2300131" cy="187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De aquí a 2030, aumentar considerablemente el uso eficiente de los recursos hídricos en todos los sectores y asegurar la sostenibilidad.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86958" y="4823023"/>
            <a:ext cx="2300131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22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Indicadores oficiales: 6.4.1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86958" y="5293816"/>
            <a:ext cx="2300131" cy="610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90284" y="1762919"/>
            <a:ext cx="2744223" cy="4344789"/>
          </a:xfrm>
          <a:custGeom>
            <a:avLst/>
            <a:gdLst/>
            <a:ahLst/>
            <a:cxnLst/>
            <a:rect l="l" t="t" r="r" b="b"/>
            <a:pathLst>
              <a:path w="2744223" h="4344789">
                <a:moveTo>
                  <a:pt x="0" y="0"/>
                </a:moveTo>
                <a:lnTo>
                  <a:pt x="2734698" y="0"/>
                </a:lnTo>
                <a:arcTo wR="9525" hR="9525" stAng="16200000" swAng="5400000"/>
                <a:lnTo>
                  <a:pt x="2744223" y="4335264"/>
                </a:lnTo>
                <a:arcTo wR="9525" hR="9525" stAng="0" swAng="5400000"/>
                <a:lnTo>
                  <a:pt x="0" y="43447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193479" y="1966119"/>
            <a:ext cx="2337833" cy="749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Contribución del proyecto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93479" y="2842915"/>
            <a:ext cx="2337833" cy="1011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Permite evitar el desperdicio en las tuberías mediante sensores que detectan fugas a tiempo.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189" y="6267450"/>
            <a:ext cx="11734506" cy="182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22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Fuente: Naciones Unidas, Marco de indicadores mundiales de los ODS.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07672" y="1762919"/>
            <a:ext cx="12700" cy="4344789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77413" y="1762919"/>
            <a:ext cx="12700" cy="4344789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8983934" y="1762919"/>
            <a:ext cx="12700" cy="4344789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81F83E7-0440-21AC-0999-06CEF97D8B7A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CBA8E36-CCC3-EFF7-BCD4-65A250EFC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7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ODS SECUNDARIO 2 :  ODS 11 – CIUDADES Y COMUNIDADES SOSTENIBLES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861046"/>
            <a:ext cx="2638458" cy="209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Meta 11.1(Servicios básicos y vivienda adecuada):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0383" y="4120356"/>
            <a:ext cx="2638458" cy="179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De aquí a 2030, asegurar el acceso de todas las personas a viviendas y servicios básicos adecuados, seguros y asequibles.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0383" y="6047978"/>
            <a:ext cx="3248043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 oficial: 11.1.1 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05232" y="1861046"/>
            <a:ext cx="2544500" cy="83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Contribución al proyecto: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705232" y="2860675"/>
            <a:ext cx="2544500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Ayuda a proteger los servicios básicos en las viviendas, evitando cortes o pérdidas de agua por averías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52927" y="1657846"/>
            <a:ext cx="2725372" cy="47984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656122" y="1861046"/>
            <a:ext cx="2318982" cy="167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Meta 11.5 (Mitigación de impactos y desastres)</a:t>
            </a:r>
            <a:r>
              <a:rPr lang="en-US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: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56122" y="3700463"/>
            <a:ext cx="2318982" cy="209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De aquí a 2030, reducir significativamente el número de muertes causadas por los desastres, incluidos los relacionados con el agua.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56122" y="5927427"/>
            <a:ext cx="2928567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i="1" kern="0" spc="25" dirty="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 11.5.2: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78299" y="1657846"/>
            <a:ext cx="2556208" cy="4798417"/>
          </a:xfrm>
          <a:custGeom>
            <a:avLst/>
            <a:gdLst/>
            <a:ahLst/>
            <a:cxnLst/>
            <a:rect l="l" t="t" r="r" b="b"/>
            <a:pathLst>
              <a:path w="2556208" h="4798417">
                <a:moveTo>
                  <a:pt x="0" y="0"/>
                </a:moveTo>
                <a:lnTo>
                  <a:pt x="2546683" y="0"/>
                </a:lnTo>
                <a:arcTo wR="9525" hR="9525" stAng="16200000" swAng="5400000"/>
                <a:lnTo>
                  <a:pt x="2556208" y="4788892"/>
                </a:lnTo>
                <a:arcTo wR="9525" hR="9525" stAng="0" swAng="5400000"/>
                <a:lnTo>
                  <a:pt x="0" y="47984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381493" y="1861046"/>
            <a:ext cx="2149818" cy="83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Contribución al proyecto: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81493" y="2860675"/>
            <a:ext cx="2149818" cy="209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Ayuda a prevenir inundaciones o daños estructurales graves en las viviendas causados por fugas ocultas o tanques rebalsados.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189" y="6656884"/>
            <a:ext cx="11734506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Fuente: Naciones Unidas, Marco de indicadores mundiales de los ODS.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95687" y="1657846"/>
            <a:ext cx="12700" cy="4798417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446577" y="1657846"/>
            <a:ext cx="12700" cy="4798417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171949" y="1657846"/>
            <a:ext cx="12700" cy="4798417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D557AE2-2078-06D7-F9B7-373A5636C933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1F593F3-F75E-8DC2-CE3D-67C6C3A6F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456263"/>
            <a:ext cx="1428949" cy="3955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42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50" kern="0" spc="-66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ODS SECUNDARIO 1 :  ODS 12 – PRODUCCIÓN Y CONSUMO RESPONSABLES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0383" y="1809849"/>
            <a:ext cx="2525649" cy="1214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Meta 12.2 (Uso sostenible de recursos):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60383" y="3172420"/>
            <a:ext cx="2525649" cy="194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De aquí a 2030, lograr la gestión sostenible y el uso eficiente de los recursos naturales.</a:t>
            </a:r>
            <a:endParaRPr lang="en-US" sz="1650" dirty="0"/>
          </a:p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0383" y="5238750"/>
            <a:ext cx="3135234" cy="19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 oficial:12.2.1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92423" y="1809849"/>
            <a:ext cx="2525749" cy="80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Contribución al proyecto: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592423" y="2767707"/>
            <a:ext cx="2525749" cy="1416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Promueve el cuidado de los recursos hídricos en el entorno domiciliario evitando extracciones innecesarias.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321366" y="1606649"/>
            <a:ext cx="2668918" cy="47865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24561" y="1809849"/>
            <a:ext cx="2262528" cy="1214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Meta12.5(Reducción de desperdicios):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524561" y="3172420"/>
            <a:ext cx="2262528" cy="2105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De aquí a 2030, reducir considerablemente la generación de residuos mediante actividades de prevención, reducción, reciclado y reutilización.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24561" y="5399782"/>
            <a:ext cx="2262528" cy="790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Indicador oficial:12.5.1 :Tasa nacional de reciclaje, y toneladas de material reciclado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90284" y="1606649"/>
            <a:ext cx="2744223" cy="4786511"/>
          </a:xfrm>
          <a:custGeom>
            <a:avLst/>
            <a:gdLst/>
            <a:ahLst/>
            <a:cxnLst/>
            <a:rect l="l" t="t" r="r" b="b"/>
            <a:pathLst>
              <a:path w="2744223" h="4786511">
                <a:moveTo>
                  <a:pt x="0" y="0"/>
                </a:moveTo>
                <a:lnTo>
                  <a:pt x="2734698" y="0"/>
                </a:lnTo>
                <a:arcTo wR="9525" hR="9525" stAng="16200000" swAng="5400000"/>
                <a:lnTo>
                  <a:pt x="2744223" y="4776986"/>
                </a:lnTo>
                <a:arcTo wR="9525" hR="9525" stAng="0" swAng="5400000"/>
                <a:lnTo>
                  <a:pt x="0" y="47865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193479" y="1809849"/>
            <a:ext cx="2337833" cy="80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Contribución al proyecto: 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193479" y="2767707"/>
            <a:ext cx="2337833" cy="1416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Ayuda a disminuir drásticamente la pérdida de agua potable previniendo averías internas en el hogar.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7189" y="6579493"/>
            <a:ext cx="11734506" cy="19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Fuente: Naciones Unidas, Marco de indicadores mundiales de los ODS.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2878" y="1606649"/>
            <a:ext cx="12700" cy="4786511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315016" y="1606649"/>
            <a:ext cx="12700" cy="4786511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8983934" y="1606649"/>
            <a:ext cx="12700" cy="4786511"/>
          </a:xfrm>
          <a:prstGeom prst="rect">
            <a:avLst/>
          </a:prstGeom>
          <a:solidFill>
            <a:srgbClr val="BDCFE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89A650B-0711-5C14-C4AD-F1939F99DF22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42FA012-B6DA-87D8-24BB-A3355B5F8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051" y="6400800"/>
            <a:ext cx="1428949" cy="450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AQUA-ALERT_impacto_publico_imagen_1.png">
            <a:extLst>
              <a:ext uri="{FF2B5EF4-FFF2-40B4-BE49-F238E27FC236}">
                <a16:creationId xmlns:a16="http://schemas.microsoft.com/office/drawing/2014/main" id="{FA90AE8D-EC9B-0282-B24F-E616F0C2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575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79D7329-F94B-7843-B8EA-9BCFC5DB3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473" y="257545"/>
            <a:ext cx="2236957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1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29184"/>
            <a:ext cx="438912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1C3B5E"/>
                </a:solidFill>
                <a:latin typeface="Aptos"/>
              </a:rPr>
              <a:t>ESCALABILIDAD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11064240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700" b="1" dirty="0">
                <a:solidFill>
                  <a:srgbClr val="2365C6"/>
                </a:solidFill>
                <a:latin typeface="Aptos Display"/>
              </a:rPr>
              <a:t>¿A QUIÉNES PODRÍA BENEFICIAR?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61872"/>
            <a:ext cx="1097280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50" b="0" dirty="0">
                <a:solidFill>
                  <a:srgbClr val="1C3B5E"/>
                </a:solidFill>
                <a:latin typeface="Aptos"/>
              </a:rPr>
              <a:t>Una </a:t>
            </a:r>
            <a:r>
              <a:rPr sz="1450" b="0" dirty="0" err="1">
                <a:solidFill>
                  <a:srgbClr val="1C3B5E"/>
                </a:solidFill>
                <a:latin typeface="Aptos"/>
              </a:rPr>
              <a:t>solución</a:t>
            </a:r>
            <a:r>
              <a:rPr sz="1450" b="0" dirty="0">
                <a:solidFill>
                  <a:srgbClr val="1C3B5E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1C3B5E"/>
                </a:solidFill>
                <a:latin typeface="Aptos"/>
              </a:rPr>
              <a:t>escalable</a:t>
            </a:r>
            <a:r>
              <a:rPr sz="1450" b="0" dirty="0">
                <a:solidFill>
                  <a:srgbClr val="1C3B5E"/>
                </a:solidFill>
                <a:latin typeface="Aptos"/>
              </a:rPr>
              <a:t>, </a:t>
            </a:r>
            <a:r>
              <a:rPr sz="1450" b="0" dirty="0" err="1">
                <a:solidFill>
                  <a:srgbClr val="1C3B5E"/>
                </a:solidFill>
                <a:latin typeface="Aptos"/>
              </a:rPr>
              <a:t>según</a:t>
            </a:r>
            <a:r>
              <a:rPr sz="1450" b="0" dirty="0">
                <a:solidFill>
                  <a:srgbClr val="1C3B5E"/>
                </a:solidFill>
                <a:latin typeface="Aptos"/>
              </a:rPr>
              <a:t> sus </a:t>
            </a:r>
            <a:r>
              <a:rPr sz="1450" b="0" dirty="0" err="1">
                <a:solidFill>
                  <a:srgbClr val="1C3B5E"/>
                </a:solidFill>
                <a:latin typeface="Aptos"/>
              </a:rPr>
              <a:t>resultados</a:t>
            </a:r>
            <a:r>
              <a:rPr sz="1450" b="0" dirty="0">
                <a:solidFill>
                  <a:srgbClr val="1C3B5E"/>
                </a:solidFill>
                <a:latin typeface="Aptos"/>
              </a:rPr>
              <a:t> y </a:t>
            </a:r>
            <a:r>
              <a:rPr sz="1450" b="0" dirty="0" err="1">
                <a:solidFill>
                  <a:srgbClr val="1C3B5E"/>
                </a:solidFill>
                <a:latin typeface="Aptos"/>
              </a:rPr>
              <a:t>viabilidad</a:t>
            </a:r>
            <a:r>
              <a:rPr sz="1450" b="0" dirty="0">
                <a:solidFill>
                  <a:srgbClr val="1C3B5E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41148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0">
                <a:solidFill>
                  <a:srgbClr val="2365C6"/>
                </a:solidFill>
                <a:latin typeface="Aptos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2194560"/>
            <a:ext cx="2697480" cy="0"/>
          </a:xfrm>
          <a:prstGeom prst="line">
            <a:avLst/>
          </a:prstGeom>
          <a:ln w="13970">
            <a:solidFill>
              <a:srgbClr val="236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2404872"/>
            <a:ext cx="26517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 dirty="0">
                <a:solidFill>
                  <a:srgbClr val="1C3B5E"/>
                </a:solidFill>
                <a:latin typeface="Aptos"/>
              </a:rPr>
              <a:t>Corto </a:t>
            </a:r>
            <a:r>
              <a:rPr sz="1650" b="1" dirty="0" err="1">
                <a:solidFill>
                  <a:srgbClr val="1C3B5E"/>
                </a:solidFill>
                <a:latin typeface="Aptos"/>
              </a:rPr>
              <a:t>plazo</a:t>
            </a:r>
            <a:endParaRPr sz="1650" b="1" dirty="0">
              <a:solidFill>
                <a:srgbClr val="1C3B5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852928"/>
            <a:ext cx="2560320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20" b="0" dirty="0" err="1">
                <a:solidFill>
                  <a:srgbClr val="1C3B5E"/>
                </a:solidFill>
                <a:latin typeface="Aptos"/>
              </a:rPr>
              <a:t>Hogares</a:t>
            </a:r>
            <a:r>
              <a:rPr sz="1220" b="0" dirty="0">
                <a:solidFill>
                  <a:srgbClr val="1C3B5E"/>
                </a:solidFill>
                <a:latin typeface="Aptos"/>
              </a:rPr>
              <a:t> y </a:t>
            </a:r>
            <a:r>
              <a:rPr sz="1220" b="0" dirty="0" err="1">
                <a:solidFill>
                  <a:srgbClr val="1C3B5E"/>
                </a:solidFill>
                <a:latin typeface="Aptos"/>
              </a:rPr>
              <a:t>pequeños</a:t>
            </a:r>
            <a:r>
              <a:rPr sz="1220" b="0" dirty="0">
                <a:solidFill>
                  <a:srgbClr val="1C3B5E"/>
                </a:solidFill>
                <a:latin typeface="Aptos"/>
              </a:rPr>
              <a:t>
</a:t>
            </a:r>
            <a:r>
              <a:rPr sz="1220" b="0" dirty="0" err="1">
                <a:solidFill>
                  <a:srgbClr val="1C3B5E"/>
                </a:solidFill>
                <a:latin typeface="Aptos"/>
              </a:rPr>
              <a:t>establecimientos</a:t>
            </a:r>
            <a:r>
              <a:rPr sz="1220" b="0" dirty="0">
                <a:solidFill>
                  <a:srgbClr val="1C3B5E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487168"/>
            <a:ext cx="32004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0" dirty="0">
                <a:solidFill>
                  <a:srgbClr val="2365C6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1938528"/>
            <a:ext cx="41148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0">
                <a:solidFill>
                  <a:srgbClr val="2365C6"/>
                </a:solidFill>
                <a:latin typeface="Aptos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2" y="2194560"/>
            <a:ext cx="2697480" cy="0"/>
          </a:xfrm>
          <a:prstGeom prst="line">
            <a:avLst/>
          </a:prstGeom>
          <a:ln w="13970">
            <a:solidFill>
              <a:srgbClr val="236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96512" y="2404872"/>
            <a:ext cx="26517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1C3B5E"/>
                </a:solidFill>
                <a:latin typeface="Aptos"/>
              </a:rPr>
              <a:t>Mediano plazo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852928"/>
            <a:ext cx="2560320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20" b="0">
                <a:solidFill>
                  <a:srgbClr val="1C3B5E"/>
                </a:solidFill>
                <a:latin typeface="Aptos"/>
              </a:rPr>
              <a:t>Edificios, condominios
e instituciones.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87168"/>
            <a:ext cx="32004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0">
                <a:solidFill>
                  <a:srgbClr val="2365C6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921" y="1919443"/>
            <a:ext cx="41148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0">
                <a:solidFill>
                  <a:srgbClr val="2365C6"/>
                </a:solidFill>
                <a:latin typeface="Aptos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34656" y="2194560"/>
            <a:ext cx="2697480" cy="0"/>
          </a:xfrm>
          <a:prstGeom prst="line">
            <a:avLst/>
          </a:prstGeom>
          <a:ln w="13970">
            <a:solidFill>
              <a:srgbClr val="236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34656" y="2404872"/>
            <a:ext cx="26517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1C3B5E"/>
                </a:solidFill>
                <a:latin typeface="Aptos"/>
              </a:rPr>
              <a:t>Escala mayor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52928"/>
            <a:ext cx="2560320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20" b="0">
                <a:solidFill>
                  <a:srgbClr val="1C3B5E"/>
                </a:solidFill>
                <a:latin typeface="Aptos"/>
              </a:rPr>
              <a:t>Municipalidades y EPS,
si existe un despliegue viable.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92040"/>
            <a:ext cx="10927080" cy="640080"/>
          </a:xfrm>
          <a:prstGeom prst="roundRect">
            <a:avLst/>
          </a:prstGeom>
          <a:solidFill>
            <a:srgbClr val="D6E5F8"/>
          </a:solidFill>
          <a:ln w="10160">
            <a:solidFill>
              <a:srgbClr val="D6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4892040"/>
            <a:ext cx="64008" cy="640080"/>
          </a:xfrm>
          <a:prstGeom prst="rect">
            <a:avLst/>
          </a:prstGeom>
          <a:solidFill>
            <a:srgbClr val="2365C6"/>
          </a:solidFill>
          <a:ln w="10160">
            <a:solidFill>
              <a:srgbClr val="23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5102352"/>
            <a:ext cx="102870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80" b="1" dirty="0">
                <a:solidFill>
                  <a:srgbClr val="1C3B5E"/>
                </a:solidFill>
                <a:latin typeface="Aptos"/>
              </a:rPr>
              <a:t>El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prototipo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valida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el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funcionamiento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técnico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; el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impacto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a gran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escala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requerirá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una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implementación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C3B5E"/>
                </a:solidFill>
                <a:latin typeface="Aptos"/>
              </a:rPr>
              <a:t>piloto</a:t>
            </a:r>
            <a:r>
              <a:rPr sz="1280" b="1" dirty="0">
                <a:solidFill>
                  <a:srgbClr val="1C3B5E"/>
                </a:solidFill>
                <a:latin typeface="Aptos"/>
              </a:rPr>
              <a:t>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5488" y="6016752"/>
            <a:ext cx="11210544" cy="0"/>
          </a:xfrm>
          <a:prstGeom prst="line">
            <a:avLst/>
          </a:prstGeom>
          <a:ln w="11430">
            <a:solidFill>
              <a:srgbClr val="236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356848" y="329184"/>
            <a:ext cx="32004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950" b="1" dirty="0">
                <a:solidFill>
                  <a:srgbClr val="1C3B5E"/>
                </a:solidFill>
                <a:latin typeface="Aptos"/>
              </a:rPr>
              <a:t>10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94B9CBEA-209F-BFC3-DAED-CC870F1D1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11" y="3421130"/>
            <a:ext cx="1021898" cy="1167883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C2B3E0E1-12D0-14A0-5B91-AF5E1D70F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679" y="3447288"/>
            <a:ext cx="1407857" cy="1260950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50BE0318-80D7-844A-31B3-50B6B561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3282696"/>
            <a:ext cx="1730996" cy="14859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E415BD3-573B-583B-D29F-CC5ECACAD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CE7C0C2-BA58-6884-512C-4A3F63D9F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5213" y="108135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FUENTES PRIMARIAS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kern="0" spc="-86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REFERENCIAS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1631355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1760C6"/>
          </a:solidFill>
          <a:ln/>
        </p:spPr>
        <p:txBody>
          <a:bodyPr/>
          <a:lstStyle/>
          <a:p>
            <a:endParaRPr lang="es-PE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918692"/>
          <a:ext cx="11277318" cy="2239709"/>
        </p:xfrm>
        <a:graphic>
          <a:graphicData uri="http://schemas.openxmlformats.org/drawingml/2006/table">
            <a:tbl>
              <a:tblPr/>
              <a:tblGrid>
                <a:gridCol w="2029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7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60C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Fuente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60C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Referencia y enlace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SUNASS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u="sng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Agua no facturada en el Perú: un desafío de gestión para las empresas prestadoras de servicios de agua potable, 2025.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SEDAPAL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u="sng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Detección de fugas no visibles con sensores electroacústicos y tecnología SAR, 2025.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Naciones Unidas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u="sng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Marco de indicadores mundiales de los ODS, versión en español.</a:t>
                      </a:r>
                      <a:endParaRPr lang="en-US" sz="17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89" y="4361656"/>
            <a:ext cx="1127731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951FDB-BE28-1EEE-26C6-083B52E98F16}"/>
              </a:ext>
            </a:extLst>
          </p:cNvPr>
          <p:cNvSpPr/>
          <p:nvPr/>
        </p:nvSpPr>
        <p:spPr>
          <a:xfrm>
            <a:off x="11015932" y="6547449"/>
            <a:ext cx="1175763" cy="310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FBEAB9-E436-65AC-C217-19B2C812D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051" y="6356420"/>
            <a:ext cx="1428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1089</Words>
  <Application>Microsoft Office PowerPoint</Application>
  <PresentationFormat>Panorámica</PresentationFormat>
  <Paragraphs>152</Paragraphs>
  <Slides>14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6" baseType="lpstr">
      <vt:lpstr>Times New Roman</vt:lpstr>
      <vt:lpstr>Arial</vt:lpstr>
      <vt:lpstr>IBM Plex Mono Medium</vt:lpstr>
      <vt:lpstr>IBM Plex Mono SemiBold</vt:lpstr>
      <vt:lpstr>Nunito Sans Medium</vt:lpstr>
      <vt:lpstr>Sora ExtraBold</vt:lpstr>
      <vt:lpstr>Aptos Display</vt:lpstr>
      <vt:lpstr>Nunito Sans SemiBold</vt:lpstr>
      <vt:lpstr>Aptos</vt:lpstr>
      <vt:lpstr>Nunito Sans</vt:lpstr>
      <vt:lpstr>Nunito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Edwin Layme</cp:lastModifiedBy>
  <cp:revision>3</cp:revision>
  <dcterms:created xsi:type="dcterms:W3CDTF">2026-09-17T03:39:34Z</dcterms:created>
  <dcterms:modified xsi:type="dcterms:W3CDTF">2026-09-17T04:44:00Z</dcterms:modified>
</cp:coreProperties>
</file>